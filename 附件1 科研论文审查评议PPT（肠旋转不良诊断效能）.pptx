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3" r:id="rId3"/>
    <p:sldId id="268" r:id="rId5"/>
    <p:sldId id="269" r:id="rId6"/>
    <p:sldId id="270" r:id="rId7"/>
    <p:sldId id="271" r:id="rId8"/>
    <p:sldId id="272" r:id="rId9"/>
    <p:sldId id="284" r:id="rId10"/>
    <p:sldId id="286" r:id="rId11"/>
    <p:sldId id="287" r:id="rId12"/>
    <p:sldId id="288" r:id="rId13"/>
    <p:sldId id="279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0" clrIdx="0"/>
  <p:cmAuthor id="7" name="Administrator" initials="A" lastIdx="1" clrIdx="3"/>
  <p:cmAuthor id="1" name="liujianjun" initials="l" lastIdx="1" clrIdx="0"/>
  <p:cmAuthor id="8" name="zhao yiran" initials="zy" lastIdx="1" clrIdx="4"/>
  <p:cmAuthor id="3" name="作者" initials="作" lastIdx="0" clrIdx="1"/>
  <p:cmAuthor id="4" name="Yuan Ma" initials="Y" lastIdx="3" clrIdx="3"/>
  <p:cmAuthor id="5" name="范 晓萱" initials="范" lastIdx="4" clrIdx="4"/>
  <p:cmAuthor id="6" name="黄健" initials="w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2126"/>
    <a:srgbClr val="A10000"/>
    <a:srgbClr val="8F0000"/>
    <a:srgbClr val="870000"/>
    <a:srgbClr val="FFFFFF"/>
    <a:srgbClr val="EC6C1F"/>
    <a:srgbClr val="FFF000"/>
    <a:srgbClr val="DCDCDC"/>
    <a:srgbClr val="F0F0F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518" y="72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64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5E8DB0-55DC-4221-A99C-988BCD133BF3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5E8DB0-55DC-4221-A99C-988BCD133BF3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5E8DB0-55DC-4221-A99C-988BCD133BF3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5E8DB0-55DC-4221-A99C-988BCD133BF3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5E8DB0-55DC-4221-A99C-988BCD133BF3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5E8DB0-55DC-4221-A99C-988BCD133BF3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5E8DB0-55DC-4221-A99C-988BCD133BF3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5E8DB0-55DC-4221-A99C-988BCD133BF3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5E8DB0-55DC-4221-A99C-988BCD133BF3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C70D-B7C8-466D-B87C-22D855EF7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045BA-9AC9-4435-A9A0-D822685BA71C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页_2">
    <p:bg>
      <p:bgPr>
        <a:blipFill dpi="0" rotWithShape="1">
          <a:blip r:embed="rId2" cstate="print">
            <a:alphaModFix amt="22000"/>
            <a:lum/>
          </a:blip>
          <a:srcRect/>
          <a:stretch>
            <a:fillRect l="-21000" r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403167" y="207121"/>
            <a:ext cx="7752947" cy="590549"/>
          </a:xfrm>
          <a:prstGeom prst="rect">
            <a:avLst/>
          </a:prstGeom>
        </p:spPr>
        <p:txBody>
          <a:bodyPr lIns="171176" tIns="85588" rIns="171176" bIns="85588" anchor="ctr">
            <a:noAutofit/>
          </a:bodyPr>
          <a:lstStyle>
            <a:lvl1pPr marL="0" indent="0" algn="l">
              <a:buNone/>
              <a:defRPr lang="zh-CN" altLang="en-US" sz="3200" b="1" kern="1200" dirty="0">
                <a:solidFill>
                  <a:srgbClr val="139895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6044" y="3"/>
            <a:ext cx="252146" cy="941043"/>
          </a:xfrm>
          <a:prstGeom prst="rect">
            <a:avLst/>
          </a:prstGeom>
          <a:solidFill>
            <a:srgbClr val="139895"/>
          </a:solidFill>
          <a:ln>
            <a:solidFill>
              <a:srgbClr val="1398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0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68" y="6391093"/>
            <a:ext cx="1497712" cy="334514"/>
          </a:xfrm>
          <a:prstGeom prst="rect">
            <a:avLst/>
          </a:prstGeom>
        </p:spPr>
      </p:pic>
      <p:cxnSp>
        <p:nvCxnSpPr>
          <p:cNvPr id="7" name="直接连接符 6"/>
          <p:cNvCxnSpPr>
            <a:stCxn id="5" idx="2"/>
          </p:cNvCxnSpPr>
          <p:nvPr userDrawn="1"/>
        </p:nvCxnSpPr>
        <p:spPr>
          <a:xfrm>
            <a:off x="132117" y="941045"/>
            <a:ext cx="5975646" cy="0"/>
          </a:xfrm>
          <a:prstGeom prst="line">
            <a:avLst/>
          </a:prstGeom>
          <a:ln>
            <a:solidFill>
              <a:srgbClr val="1398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 userDrawn="1"/>
        </p:nvGrpSpPr>
        <p:grpSpPr>
          <a:xfrm>
            <a:off x="7076656" y="200815"/>
            <a:ext cx="4770783" cy="398347"/>
            <a:chOff x="6771860" y="200815"/>
            <a:chExt cx="4770783" cy="398347"/>
          </a:xfrm>
        </p:grpSpPr>
        <p:pic>
          <p:nvPicPr>
            <p:cNvPr id="6" name="图片 5" descr="图片包含 物体, 事情, 时钟&#10;&#10;已生成极高可信度的说明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02300" y="200815"/>
              <a:ext cx="2440343" cy="384367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71860" y="207121"/>
              <a:ext cx="2330439" cy="392041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95250"/>
            <a:ext cx="12420600" cy="6953250"/>
          </a:xfrm>
          <a:prstGeom prst="rect">
            <a:avLst/>
          </a:prstGeom>
        </p:spPr>
      </p:pic>
      <p:sp>
        <p:nvSpPr>
          <p:cNvPr id="13" name="标题 12"/>
          <p:cNvSpPr>
            <a:spLocks noGrp="1"/>
          </p:cNvSpPr>
          <p:nvPr>
            <p:ph type="title"/>
          </p:nvPr>
        </p:nvSpPr>
        <p:spPr>
          <a:xfrm>
            <a:off x="1495425" y="1228090"/>
            <a:ext cx="9327515" cy="1186815"/>
          </a:xfrm>
        </p:spPr>
        <p:txBody>
          <a:bodyPr/>
          <a:lstStyle/>
          <a:p>
            <a:pPr algn="ctr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论文投稿审查</a:t>
            </a:r>
            <a:r>
              <a:rPr lang="zh-CN" altLang="en-US" sz="40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评议</a:t>
            </a:r>
            <a:endParaRPr lang="en-US" altLang="zh-CN" sz="4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"/>
          <p:cNvSpPr txBox="1">
            <a:spLocks noChangeArrowheads="1"/>
          </p:cNvSpPr>
          <p:nvPr/>
        </p:nvSpPr>
        <p:spPr>
          <a:xfrm>
            <a:off x="2954479" y="5490142"/>
            <a:ext cx="6409408" cy="81821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</a:rPr>
              <a:t>汇报人：</a:t>
            </a:r>
            <a:r>
              <a:rPr lang="en-US" sz="2400" b="1" noProof="0" dirty="0">
                <a:ln>
                  <a:noFill/>
                </a:ln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</a:rPr>
              <a:t>XXX</a:t>
            </a:r>
            <a:endParaRPr lang="zh-CN" altLang="en-US" sz="2400" b="1" noProof="0" dirty="0">
              <a:ln>
                <a:noFill/>
              </a:ln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</a:rPr>
              <a:t>汇报时间：</a:t>
            </a:r>
            <a:r>
              <a:rPr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</a:rPr>
              <a:t>2026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</a:rPr>
              <a:t>年</a:t>
            </a:r>
            <a:r>
              <a:rPr lang="en-US" altLang="zh-CN" sz="2400" b="1" noProof="0" dirty="0">
                <a:ln>
                  <a:noFill/>
                </a:ln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</a:rPr>
              <a:t>X</a:t>
            </a:r>
            <a:r>
              <a:rPr lang="zh-CN" altLang="en-US" sz="2400" b="1" noProof="0" dirty="0">
                <a:ln>
                  <a:noFill/>
                </a:ln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</a:rPr>
              <a:t>月</a:t>
            </a:r>
            <a:r>
              <a:rPr lang="en-US" altLang="zh-CN" sz="2400" b="1" noProof="0" dirty="0">
                <a:ln>
                  <a:noFill/>
                </a:ln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</a:rPr>
              <a:t>X</a:t>
            </a:r>
            <a:r>
              <a:rPr lang="zh-CN" altLang="en-US" sz="2400" b="1" noProof="0" dirty="0">
                <a:ln>
                  <a:noFill/>
                </a:ln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</a:rPr>
              <a:t>日</a:t>
            </a:r>
            <a:endParaRPr lang="zh-CN" altLang="en-US" sz="2400" b="1" noProof="0" dirty="0">
              <a:ln>
                <a:noFill/>
              </a:ln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  <p:bldLst>
      <p:bldP spid="4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alphaModFix amt="22000"/>
          </a:blip>
          <a:srcRect/>
          <a:stretch>
            <a:fillRect l="-21000" r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/>
          </p:cNvSpPr>
          <p:nvPr/>
        </p:nvSpPr>
        <p:spPr>
          <a:xfrm>
            <a:off x="602871" y="1473709"/>
            <a:ext cx="10337861" cy="3214977"/>
          </a:xfrm>
          <a:prstGeom prst="rect">
            <a:avLst/>
          </a:prstGeom>
          <a:noFill/>
          <a:ln w="9525">
            <a:noFill/>
          </a:ln>
        </p:spPr>
        <p:txBody>
          <a:bodyPr wrap="square" lIns="86315" tIns="43157" rIns="86315" bIns="43157" anchor="t"/>
          <a:lstStyle>
            <a:lvl1pPr marL="0" lvl="0" indent="0" algn="ctr">
              <a:defRPr/>
            </a:lvl1pPr>
            <a:lvl2pPr marL="457200" lvl="1" indent="92075" algn="ctr">
              <a:defRPr/>
            </a:lvl2pPr>
            <a:lvl3pPr marL="914400" lvl="2" indent="184150" algn="ctr">
              <a:defRPr/>
            </a:lvl3pPr>
            <a:lvl4pPr marL="1371600" lvl="3" indent="274955" algn="ctr">
              <a:defRPr/>
            </a:lvl4pPr>
            <a:lvl5pPr marL="1828800" lvl="4" indent="367030" algn="ctr">
              <a:defRPr/>
            </a:lvl5pPr>
          </a:lstStyle>
          <a:p>
            <a:pPr algn="l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600" b="1" dirty="0" smtClean="0">
                <a:solidFill>
                  <a:srgbClr val="000000"/>
                </a:solidFill>
                <a:latin typeface="微软雅黑" panose="020B0503020204020204" charset="-122"/>
                <a:cs typeface="+mn-ea"/>
              </a:rPr>
              <a:t>论文题目：</a:t>
            </a:r>
            <a:endParaRPr lang="en-US" altLang="zh-CN" sz="2600" b="1" dirty="0" smtClean="0">
              <a:solidFill>
                <a:srgbClr val="000000"/>
              </a:solidFill>
              <a:latin typeface="微软雅黑" panose="020B0503020204020204" charset="-122"/>
              <a:cs typeface="+mn-ea"/>
            </a:endParaRPr>
          </a:p>
          <a:p>
            <a:pPr algn="l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600" b="1" dirty="0" smtClean="0">
                <a:solidFill>
                  <a:srgbClr val="000000"/>
                </a:solidFill>
                <a:latin typeface="微软雅黑" panose="020B0503020204020204" charset="-122"/>
                <a:cs typeface="+mn-ea"/>
              </a:rPr>
              <a:t>投稿杂志：</a:t>
            </a:r>
            <a:endParaRPr lang="en-US" altLang="zh-CN" sz="2600" b="1" dirty="0" smtClean="0">
              <a:solidFill>
                <a:srgbClr val="000000"/>
              </a:solidFill>
              <a:latin typeface="微软雅黑" panose="020B0503020204020204" charset="-122"/>
              <a:cs typeface="+mn-ea"/>
            </a:endParaRPr>
          </a:p>
          <a:p>
            <a:pPr algn="l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600" b="1" dirty="0" smtClean="0">
                <a:solidFill>
                  <a:srgbClr val="000000"/>
                </a:solidFill>
                <a:latin typeface="微软雅黑" panose="020B0503020204020204" charset="-122"/>
                <a:cs typeface="+mn-ea"/>
              </a:rPr>
              <a:t>杂志类别：</a:t>
            </a:r>
            <a:r>
              <a:rPr lang="en-US" altLang="zh-CN" sz="2600" b="1" dirty="0" smtClean="0">
                <a:solidFill>
                  <a:srgbClr val="000000"/>
                </a:solidFill>
                <a:latin typeface="微软雅黑" panose="020B0503020204020204" charset="-122"/>
                <a:cs typeface="+mn-ea"/>
              </a:rPr>
              <a:t>SCI/</a:t>
            </a:r>
            <a:r>
              <a:rPr lang="zh-CN" altLang="en-US" sz="2600" b="1" dirty="0" smtClean="0">
                <a:solidFill>
                  <a:srgbClr val="000000"/>
                </a:solidFill>
                <a:latin typeface="微软雅黑" panose="020B0503020204020204" charset="-122"/>
                <a:cs typeface="+mn-ea"/>
              </a:rPr>
              <a:t>北大核心</a:t>
            </a:r>
            <a:r>
              <a:rPr lang="en-US" altLang="zh-CN" sz="2600" b="1" dirty="0" smtClean="0">
                <a:solidFill>
                  <a:srgbClr val="000000"/>
                </a:solidFill>
                <a:latin typeface="微软雅黑" panose="020B0503020204020204" charset="-122"/>
                <a:cs typeface="+mn-ea"/>
              </a:rPr>
              <a:t>/</a:t>
            </a:r>
            <a:r>
              <a:rPr lang="zh-CN" altLang="en-US" sz="2600" b="1" dirty="0" smtClean="0">
                <a:solidFill>
                  <a:srgbClr val="000000"/>
                </a:solidFill>
                <a:latin typeface="微软雅黑" panose="020B0503020204020204" charset="-122"/>
                <a:cs typeface="+mn-ea"/>
              </a:rPr>
              <a:t>统计源</a:t>
            </a:r>
            <a:r>
              <a:rPr lang="en-US" altLang="zh-CN" sz="2600" b="1" dirty="0" smtClean="0">
                <a:solidFill>
                  <a:srgbClr val="000000"/>
                </a:solidFill>
                <a:latin typeface="微软雅黑" panose="020B0503020204020204" charset="-122"/>
                <a:cs typeface="+mn-ea"/>
              </a:rPr>
              <a:t>/</a:t>
            </a:r>
            <a:r>
              <a:rPr lang="zh-CN" altLang="en-US" sz="2600" b="1" dirty="0" smtClean="0">
                <a:solidFill>
                  <a:srgbClr val="000000"/>
                </a:solidFill>
                <a:latin typeface="微软雅黑" panose="020B0503020204020204" charset="-122"/>
                <a:cs typeface="+mn-ea"/>
              </a:rPr>
              <a:t>其他</a:t>
            </a:r>
            <a:endParaRPr lang="en-US" altLang="zh-CN" sz="2600" b="1" dirty="0" smtClean="0">
              <a:solidFill>
                <a:srgbClr val="000000"/>
              </a:solidFill>
              <a:latin typeface="微软雅黑" panose="020B0503020204020204" charset="-122"/>
              <a:cs typeface="+mn-ea"/>
            </a:endParaRPr>
          </a:p>
          <a:p>
            <a:pPr algn="l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600" b="1" dirty="0" smtClean="0">
                <a:solidFill>
                  <a:srgbClr val="000000"/>
                </a:solidFill>
                <a:latin typeface="微软雅黑" panose="020B0503020204020204" charset="-122"/>
                <a:cs typeface="+mn-ea"/>
              </a:rPr>
              <a:t>中科院</a:t>
            </a:r>
            <a:r>
              <a:rPr lang="en-US" altLang="zh-CN" sz="2600" b="1" dirty="0" smtClean="0">
                <a:solidFill>
                  <a:srgbClr val="000000"/>
                </a:solidFill>
                <a:latin typeface="微软雅黑" panose="020B0503020204020204" charset="-122"/>
                <a:cs typeface="+mn-ea"/>
              </a:rPr>
              <a:t>SCI</a:t>
            </a:r>
            <a:r>
              <a:rPr lang="zh-CN" altLang="en-US" sz="2600" b="1" dirty="0" smtClean="0">
                <a:solidFill>
                  <a:srgbClr val="000000"/>
                </a:solidFill>
                <a:latin typeface="微软雅黑" panose="020B0503020204020204" charset="-122"/>
                <a:cs typeface="+mn-ea"/>
              </a:rPr>
              <a:t>类别（大类）及分区：</a:t>
            </a:r>
            <a:endParaRPr lang="en-US" altLang="zh-CN" sz="2600" b="1" dirty="0" smtClean="0">
              <a:solidFill>
                <a:srgbClr val="000000"/>
              </a:solidFill>
              <a:latin typeface="微软雅黑" panose="020B0503020204020204" charset="-122"/>
              <a:cs typeface="+mn-ea"/>
            </a:endParaRPr>
          </a:p>
          <a:p>
            <a:pPr algn="l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600" b="1" dirty="0" smtClean="0">
                <a:solidFill>
                  <a:srgbClr val="000000"/>
                </a:solidFill>
                <a:latin typeface="微软雅黑" panose="020B0503020204020204" charset="-122"/>
                <a:cs typeface="+mn-ea"/>
              </a:rPr>
              <a:t>SCI</a:t>
            </a:r>
            <a:r>
              <a:rPr lang="zh-CN" altLang="en-US" sz="2600" b="1" dirty="0" smtClean="0">
                <a:solidFill>
                  <a:srgbClr val="000000"/>
                </a:solidFill>
                <a:latin typeface="微软雅黑" panose="020B0503020204020204" charset="-122"/>
                <a:cs typeface="+mn-ea"/>
              </a:rPr>
              <a:t>影响因子（目前）：</a:t>
            </a:r>
            <a:endParaRPr lang="zh-CN" altLang="en-US" sz="2600" b="1" dirty="0">
              <a:solidFill>
                <a:srgbClr val="000000"/>
              </a:solidFill>
              <a:latin typeface="微软雅黑" panose="020B0503020204020204" charset="-122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3640" y="317776"/>
            <a:ext cx="3964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139895"/>
                </a:solidFill>
                <a:latin typeface="微软雅黑" panose="020B0503020204020204" charset="-122"/>
              </a:rPr>
              <a:t>拟投稿情况</a:t>
            </a:r>
            <a:endParaRPr lang="zh-CN" altLang="en-US" sz="2800" b="1" dirty="0">
              <a:solidFill>
                <a:srgbClr val="13989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alphaModFix amt="22000"/>
          </a:blip>
          <a:srcRect/>
          <a:stretch>
            <a:fillRect l="-21000" r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3"/>
          <p:cNvSpPr txBox="1"/>
          <p:nvPr/>
        </p:nvSpPr>
        <p:spPr>
          <a:xfrm>
            <a:off x="304801" y="1414662"/>
            <a:ext cx="12190412" cy="2594027"/>
          </a:xfrm>
          <a:prstGeom prst="rect">
            <a:avLst/>
          </a:prstGeom>
          <a:noFill/>
        </p:spPr>
        <p:txBody>
          <a:bodyPr wrap="square" lIns="83993" tIns="41997" rIns="83993" bIns="41997" rtlCol="0">
            <a:spAutoFit/>
          </a:bodyPr>
          <a:lstStyle/>
          <a:p>
            <a:pPr marL="514350" indent="-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+mj-lt"/>
              <a:buAutoNum type="arabicPeriod"/>
            </a:pP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</a:rPr>
              <a:t>目的</a:t>
            </a:r>
            <a:endParaRPr lang="en-US" altLang="zh-CN" sz="2800" dirty="0" smtClean="0">
              <a:solidFill>
                <a:srgbClr val="FF0000"/>
              </a:solidFill>
              <a:latin typeface="微软雅黑" panose="020B0503020204020204" charset="-122"/>
            </a:endParaRPr>
          </a:p>
          <a:p>
            <a:pPr marL="514350" indent="-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+mj-lt"/>
              <a:buAutoNum type="arabicPeriod"/>
            </a:pP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</a:rPr>
              <a:t>方法</a:t>
            </a:r>
            <a:endParaRPr lang="en-US" altLang="zh-CN" sz="2800" dirty="0" smtClean="0">
              <a:solidFill>
                <a:srgbClr val="FF0000"/>
              </a:solidFill>
              <a:latin typeface="微软雅黑" panose="020B0503020204020204" charset="-122"/>
            </a:endParaRPr>
          </a:p>
          <a:p>
            <a:pPr marL="514350" indent="-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+mj-lt"/>
              <a:buAutoNum type="arabicPeriod"/>
            </a:pP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</a:rPr>
              <a:t>结果</a:t>
            </a:r>
            <a:endParaRPr lang="en-US" altLang="zh-CN" sz="2800" dirty="0" smtClean="0">
              <a:solidFill>
                <a:srgbClr val="FF0000"/>
              </a:solidFill>
              <a:latin typeface="微软雅黑" panose="020B0503020204020204" charset="-122"/>
            </a:endParaRPr>
          </a:p>
          <a:p>
            <a:pPr marL="514350" indent="-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+mj-lt"/>
              <a:buAutoNum type="arabicPeriod"/>
            </a:pP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</a:rPr>
              <a:t>结论</a:t>
            </a:r>
            <a:endParaRPr lang="en-US" altLang="zh-CN" sz="2800" dirty="0" smtClean="0">
              <a:solidFill>
                <a:srgbClr val="FF0000"/>
              </a:solidFill>
              <a:latin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9657" y="291271"/>
            <a:ext cx="3964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139895"/>
                </a:solidFill>
                <a:latin typeface="微软雅黑" panose="020B0503020204020204" charset="-122"/>
              </a:rPr>
              <a:t>文章摘要</a:t>
            </a:r>
            <a:endParaRPr lang="zh-CN" altLang="en-US" sz="2800" b="1" dirty="0">
              <a:solidFill>
                <a:srgbClr val="13989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alphaModFix amt="22000"/>
          </a:blip>
          <a:srcRect/>
          <a:stretch>
            <a:fillRect l="-21000" r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46405" y="304523"/>
            <a:ext cx="3964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139895"/>
                </a:solidFill>
                <a:latin typeface="微软雅黑" panose="020B0503020204020204" charset="-122"/>
                <a:ea typeface="微软雅黑" panose="020B0503020204020204" charset="-122"/>
              </a:rPr>
              <a:t>一、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全体作者</a:t>
            </a:r>
            <a:r>
              <a:rPr lang="zh-CN" altLang="en-US" sz="2800" b="1" dirty="0" smtClean="0">
                <a:solidFill>
                  <a:srgbClr val="139895"/>
                </a:solidFill>
                <a:latin typeface="微软雅黑" panose="020B0503020204020204" charset="-122"/>
                <a:ea typeface="微软雅黑" panose="020B0503020204020204" charset="-122"/>
              </a:rPr>
              <a:t>情况</a:t>
            </a:r>
            <a:endParaRPr lang="zh-CN" sz="2800" b="1" dirty="0">
              <a:solidFill>
                <a:srgbClr val="1398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59195" y="1355044"/>
          <a:ext cx="11149875" cy="3549466"/>
        </p:xfrm>
        <a:graphic>
          <a:graphicData uri="http://schemas.openxmlformats.org/drawingml/2006/table">
            <a:tbl>
              <a:tblPr firstRow="1" bandRow="1"/>
              <a:tblGrid>
                <a:gridCol w="1103350"/>
                <a:gridCol w="3356600"/>
                <a:gridCol w="931081"/>
                <a:gridCol w="1380436"/>
                <a:gridCol w="4378408"/>
              </a:tblGrid>
              <a:tr h="9099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姓名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单位（科室）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学位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职称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indent="0" algn="l" defTabSz="115062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作者署名情况（如为共同作者标注完整）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</a:tr>
              <a:tr h="9099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zh-CN" altLang="en-US" sz="2000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张三</a:t>
                      </a:r>
                      <a:endParaRPr lang="en-US" altLang="zh-CN" sz="2000" dirty="0" smtClean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r>
                        <a:rPr lang="zh-CN" altLang="en-US" sz="2000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（举例）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zh-CN" altLang="en-US" sz="2000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武汉儿童医医院心内科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zh-CN" altLang="en-US" sz="2000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博士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zh-CN" altLang="en-US" sz="2000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主治医师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000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r>
                        <a:rPr lang="zh-CN" altLang="en-US" sz="2000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个共同一作，排序第</a:t>
                      </a:r>
                      <a:r>
                        <a:rPr lang="en-US" altLang="zh-CN" sz="2000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</a:tr>
              <a:tr h="5142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20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20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20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20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</a:tr>
              <a:tr h="5142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20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20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20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20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</a:tr>
              <a:tr h="4230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indent="0" algn="l" defTabSz="115062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……</a:t>
                      </a:r>
                      <a:r>
                        <a:rPr lang="zh-CN" altLang="en-US" sz="2000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以下自行增加</a:t>
                      </a:r>
                      <a:endParaRPr lang="en-US" altLang="zh-CN" sz="2000" dirty="0" smtClean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20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20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alphaModFix amt="22000"/>
          </a:blip>
          <a:srcRect/>
          <a:stretch>
            <a:fillRect l="-21000" r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5918" y="344280"/>
            <a:ext cx="3964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139895"/>
                </a:solidFill>
                <a:latin typeface="微软雅黑" panose="020B0503020204020204" charset="-122"/>
                <a:ea typeface="微软雅黑" panose="020B0503020204020204" charset="-122"/>
              </a:rPr>
              <a:t>二、依托课题情况</a:t>
            </a:r>
            <a:endParaRPr lang="zh-CN" sz="2800" b="1" dirty="0">
              <a:solidFill>
                <a:srgbClr val="1398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54912" y="1281019"/>
          <a:ext cx="10947992" cy="2711156"/>
        </p:xfrm>
        <a:graphic>
          <a:graphicData uri="http://schemas.openxmlformats.org/drawingml/2006/table">
            <a:tbl>
              <a:tblPr firstRow="1" bandRow="1"/>
              <a:tblGrid>
                <a:gridCol w="663962"/>
                <a:gridCol w="1092530"/>
                <a:gridCol w="3384467"/>
                <a:gridCol w="855024"/>
                <a:gridCol w="855023"/>
                <a:gridCol w="1359988"/>
                <a:gridCol w="1038828"/>
                <a:gridCol w="1698170"/>
              </a:tblGrid>
              <a:tr h="9901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zh-CN" altLang="en-US" sz="1800" dirty="0" smtClean="0">
                          <a:latin typeface="+mn-ea"/>
                          <a:ea typeface="+mn-ea"/>
                        </a:rPr>
                        <a:t>立项年份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zh-CN" altLang="en-US" sz="1800" dirty="0" smtClean="0">
                          <a:latin typeface="+mn-ea"/>
                          <a:ea typeface="+mn-ea"/>
                        </a:rPr>
                        <a:t>来源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zh-CN" altLang="en-US" sz="1800" dirty="0" smtClean="0">
                          <a:latin typeface="+mn-ea"/>
                          <a:ea typeface="+mn-ea"/>
                        </a:rPr>
                        <a:t>课题题目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zh-CN" altLang="en-US" sz="1800" dirty="0" smtClean="0">
                          <a:latin typeface="+mn-ea"/>
                          <a:ea typeface="+mn-ea"/>
                        </a:rPr>
                        <a:t>项目编号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zh-CN" altLang="en-US" sz="1800" dirty="0" smtClean="0">
                          <a:latin typeface="+mn-ea"/>
                          <a:ea typeface="+mn-ea"/>
                        </a:rPr>
                        <a:t>承接单位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zh-CN" altLang="en-US" sz="1800" dirty="0" smtClean="0">
                          <a:latin typeface="+mn-ea"/>
                          <a:ea typeface="+mn-ea"/>
                        </a:rPr>
                        <a:t>课题负责人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indent="0" algn="l" defTabSz="115062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 smtClean="0">
                          <a:latin typeface="+mn-ea"/>
                          <a:ea typeface="+mn-ea"/>
                        </a:rPr>
                        <a:t>获得资助（万）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indent="0" algn="l" defTabSz="115062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 smtClean="0">
                          <a:latin typeface="+mn-ea"/>
                          <a:ea typeface="+mn-ea"/>
                        </a:rPr>
                        <a:t>课题进度</a:t>
                      </a:r>
                      <a:endParaRPr lang="zh-CN" altLang="en-US" sz="1800" dirty="0" smtClean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</a:tr>
              <a:tr h="5736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</a:tr>
              <a:tr h="5736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</a:tr>
              <a:tr h="5736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alphaModFix amt="22000"/>
          </a:blip>
          <a:srcRect/>
          <a:stretch>
            <a:fillRect l="-21000" r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0631" y="371060"/>
            <a:ext cx="6921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139895"/>
                </a:solidFill>
                <a:latin typeface="微软雅黑" panose="020B0503020204020204" charset="-122"/>
                <a:ea typeface="微软雅黑" panose="020B0503020204020204" charset="-122"/>
              </a:rPr>
              <a:t>三、作者</a:t>
            </a:r>
            <a:r>
              <a:rPr lang="zh-CN" altLang="en-US" sz="2800" b="1" dirty="0">
                <a:solidFill>
                  <a:srgbClr val="139895"/>
                </a:solidFill>
                <a:latin typeface="微软雅黑" panose="020B0503020204020204" charset="-122"/>
                <a:ea typeface="微软雅黑" panose="020B0503020204020204" charset="-122"/>
              </a:rPr>
              <a:t>研究背景及</a:t>
            </a:r>
            <a:r>
              <a:rPr lang="zh-CN" altLang="en-US" sz="2800" b="1" dirty="0" smtClean="0">
                <a:solidFill>
                  <a:srgbClr val="139895"/>
                </a:solidFill>
                <a:latin typeface="微软雅黑" panose="020B0503020204020204" charset="-122"/>
                <a:ea typeface="微软雅黑" panose="020B0503020204020204" charset="-122"/>
              </a:rPr>
              <a:t>在文中</a:t>
            </a:r>
            <a:r>
              <a:rPr lang="zh-CN" altLang="en-US" sz="2800" b="1" dirty="0">
                <a:solidFill>
                  <a:srgbClr val="139895"/>
                </a:solidFill>
                <a:latin typeface="微软雅黑" panose="020B0503020204020204" charset="-122"/>
                <a:ea typeface="微软雅黑" panose="020B0503020204020204" charset="-122"/>
              </a:rPr>
              <a:t>承担工作</a:t>
            </a:r>
            <a:r>
              <a:rPr lang="zh-CN" altLang="en-US" sz="2800" b="1" dirty="0" smtClean="0">
                <a:solidFill>
                  <a:srgbClr val="139895"/>
                </a:solidFill>
                <a:latin typeface="微软雅黑" panose="020B0503020204020204" charset="-122"/>
                <a:ea typeface="微软雅黑" panose="020B0503020204020204" charset="-122"/>
              </a:rPr>
              <a:t>情况</a:t>
            </a:r>
            <a:endParaRPr lang="en-US" altLang="zh-CN" sz="2800" b="1" dirty="0">
              <a:solidFill>
                <a:srgbClr val="1398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75400" y="1307520"/>
          <a:ext cx="10781739" cy="293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2477"/>
                <a:gridCol w="2291279"/>
                <a:gridCol w="7097983"/>
              </a:tblGrid>
              <a:tr h="50234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>
                          <a:latin typeface="+mn-ea"/>
                          <a:ea typeface="+mn-ea"/>
                        </a:rPr>
                        <a:t>作者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smtClean="0">
                          <a:latin typeface="+mn-ea"/>
                          <a:ea typeface="+mn-ea"/>
                        </a:rPr>
                        <a:t>个人研究</a:t>
                      </a:r>
                      <a:r>
                        <a:rPr lang="zh-CN" altLang="en-US" sz="1800" dirty="0" smtClean="0">
                          <a:latin typeface="+mn-ea"/>
                          <a:ea typeface="+mn-ea"/>
                        </a:rPr>
                        <a:t>背景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>
                          <a:latin typeface="+mn-ea"/>
                          <a:ea typeface="+mn-ea"/>
                        </a:rPr>
                        <a:t>在此篇文章中承担工作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809864"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809864"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809864"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alphaModFix amt="22000"/>
          </a:blip>
          <a:srcRect/>
          <a:stretch>
            <a:fillRect l="-21000" r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0631" y="371060"/>
            <a:ext cx="69218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139895"/>
                </a:solidFill>
                <a:latin typeface="微软雅黑" panose="020B0503020204020204" charset="-122"/>
                <a:ea typeface="微软雅黑" panose="020B0503020204020204" charset="-122"/>
              </a:rPr>
              <a:t>四</a:t>
            </a:r>
            <a:r>
              <a:rPr lang="zh-CN" altLang="en-US" sz="2800" b="1" dirty="0">
                <a:solidFill>
                  <a:srgbClr val="139895"/>
                </a:solidFill>
                <a:latin typeface="微软雅黑" panose="020B0503020204020204" charset="-122"/>
                <a:ea typeface="微软雅黑" panose="020B0503020204020204" charset="-122"/>
              </a:rPr>
              <a:t>、文章具体工作</a:t>
            </a:r>
            <a:endParaRPr lang="en-US" altLang="zh-CN" sz="2800" b="1" dirty="0">
              <a:solidFill>
                <a:srgbClr val="1398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solidFill>
                <a:srgbClr val="1398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8110" y="1311864"/>
            <a:ext cx="11891369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0000"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、基础研究请列举实验实施地点、实验室条件、实验记录本、原始实验资料、实验动物来源及伦理审批</a:t>
            </a:r>
            <a:endParaRPr lang="en-US" altLang="zh-CN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alphaModFix amt="22000"/>
          </a:blip>
          <a:srcRect/>
          <a:stretch>
            <a:fillRect l="-21000" r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0631" y="371060"/>
            <a:ext cx="69218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139895"/>
                </a:solidFill>
                <a:latin typeface="微软雅黑" panose="020B0503020204020204" charset="-122"/>
                <a:ea typeface="微软雅黑" panose="020B0503020204020204" charset="-122"/>
              </a:rPr>
              <a:t>四</a:t>
            </a:r>
            <a:r>
              <a:rPr lang="zh-CN" altLang="en-US" sz="2800" b="1" dirty="0">
                <a:solidFill>
                  <a:srgbClr val="139895"/>
                </a:solidFill>
                <a:latin typeface="微软雅黑" panose="020B0503020204020204" charset="-122"/>
                <a:ea typeface="微软雅黑" panose="020B0503020204020204" charset="-122"/>
              </a:rPr>
              <a:t>、文章具体工作</a:t>
            </a:r>
            <a:endParaRPr lang="en-US" altLang="zh-CN" sz="2800" b="1" dirty="0">
              <a:solidFill>
                <a:srgbClr val="1398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solidFill>
                <a:srgbClr val="1398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8110" y="1311864"/>
            <a:ext cx="11891369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0000"/>
            </a:pP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、临床研究请列举临床伦理审批、知情同意实施、临床数据来源、原始数据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资料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alphaModFix amt="22000"/>
          </a:blip>
          <a:srcRect/>
          <a:stretch>
            <a:fillRect l="-21000" r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0631" y="371060"/>
            <a:ext cx="69218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139895"/>
                </a:solidFill>
                <a:latin typeface="微软雅黑" panose="020B0503020204020204" charset="-122"/>
                <a:ea typeface="微软雅黑" panose="020B0503020204020204" charset="-122"/>
              </a:rPr>
              <a:t>四</a:t>
            </a:r>
            <a:r>
              <a:rPr lang="zh-CN" altLang="en-US" sz="2800" b="1" dirty="0">
                <a:solidFill>
                  <a:srgbClr val="139895"/>
                </a:solidFill>
                <a:latin typeface="微软雅黑" panose="020B0503020204020204" charset="-122"/>
                <a:ea typeface="微软雅黑" panose="020B0503020204020204" charset="-122"/>
              </a:rPr>
              <a:t>、文章具体工作</a:t>
            </a:r>
            <a:endParaRPr lang="en-US" altLang="zh-CN" sz="2800" b="1" dirty="0">
              <a:solidFill>
                <a:srgbClr val="1398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solidFill>
                <a:srgbClr val="1398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8110" y="1311864"/>
            <a:ext cx="11891369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  <a:buSzPct val="60000"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、涉及使用临床样本，请列举具体样本种类、样本来源、采集时间段、采集人、运送人、运送方式、检测地点、检测人、样本状况、销毁人等所有原始记录资料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alphaModFix amt="22000"/>
          </a:blip>
          <a:srcRect/>
          <a:stretch>
            <a:fillRect l="-21000" r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1117" y="172277"/>
            <a:ext cx="6921804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  <a:buSzPct val="60000"/>
            </a:pPr>
            <a:r>
              <a:rPr lang="zh-CN" altLang="en-US" sz="2600" b="1" dirty="0" smtClean="0">
                <a:solidFill>
                  <a:srgbClr val="139895"/>
                </a:solidFill>
                <a:latin typeface="微软雅黑" panose="020B0503020204020204" charset="-122"/>
                <a:ea typeface="微软雅黑" panose="020B0503020204020204" charset="-122"/>
              </a:rPr>
              <a:t>五、其他</a:t>
            </a:r>
            <a:r>
              <a:rPr lang="zh-CN" altLang="en-US" sz="2600" b="1" dirty="0">
                <a:solidFill>
                  <a:srgbClr val="139895"/>
                </a:solidFill>
                <a:latin typeface="微软雅黑" panose="020B0503020204020204" charset="-122"/>
                <a:ea typeface="微软雅黑" panose="020B0503020204020204" charset="-122"/>
              </a:rPr>
              <a:t>需要向评议专家说明的情况</a:t>
            </a:r>
            <a:endParaRPr lang="en-US" altLang="zh-CN" sz="2600" b="1" dirty="0">
              <a:solidFill>
                <a:srgbClr val="1398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solidFill>
                <a:srgbClr val="1398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ZmExYTMzNGUwMDQwNTA0ZjE4MGY4Mzk2Yzg0Zjc0Y2Q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</Words>
  <Application>WPS 演示</Application>
  <PresentationFormat>宽屏</PresentationFormat>
  <Paragraphs>90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Wingdings</vt:lpstr>
      <vt:lpstr>微软雅黑</vt:lpstr>
      <vt:lpstr>隶书</vt:lpstr>
      <vt:lpstr>Arial Unicode MS</vt:lpstr>
      <vt:lpstr>Calibri</vt:lpstr>
      <vt:lpstr>KSOFF14BFE5F</vt:lpstr>
      <vt:lpstr>Segoe Print</vt:lpstr>
      <vt:lpstr>Calibri</vt:lpstr>
      <vt:lpstr>隶书</vt:lpstr>
      <vt:lpstr>华文隶书</vt:lpstr>
      <vt:lpstr>KSOF4B134642</vt:lpstr>
      <vt:lpstr>Office 主题​​</vt:lpstr>
      <vt:lpstr>论文投稿审查评议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舒俊</cp:lastModifiedBy>
  <cp:revision>180</cp:revision>
  <dcterms:created xsi:type="dcterms:W3CDTF">2019-06-19T02:08:00Z</dcterms:created>
  <dcterms:modified xsi:type="dcterms:W3CDTF">2026-07-20T13:14:23Z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A0998EE0C1354B0A9CA9A4F1CE94E9A2_13</vt:lpwstr>
  </property>
</Properties>
</file>